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2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</p:sldIdLst>
  <p:sldSz cx="12188825" cy="6858000"/>
  <p:notesSz cx="6858000" cy="9144000"/>
  <p:embeddedFontLst>
    <p:embeddedFont>
      <p:font typeface="Arimo SemiBold" panose="020B0604020202020204" pitchFamily="34" charset="0"/>
      <p:regular r:id="rId3"/>
      <p:bold r:id="rId4"/>
      <p:italic r:id="rId5"/>
      <p:boldItalic r:id="rId6"/>
    </p:embeddedFont>
    <p:embeddedFont>
      <p:font typeface="Montserrat Black" panose="00000A00000000000000" pitchFamily="2" charset="77"/>
      <p:bold r:id="rId7"/>
      <p:italic r:id="rId8"/>
      <p:boldItalic r:id="rId9"/>
    </p:embeddedFont>
    <p:embeddedFont>
      <p:font typeface="Nunito Light" pitchFamily="2" charset="77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747775"/>
          </p15:clr>
        </p15:guide>
        <p15:guide id="2" pos="3839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8"/>
    <p:restoredTop sz="94690"/>
  </p:normalViewPr>
  <p:slideViewPr>
    <p:cSldViewPr snapToGrid="0">
      <p:cViewPr varScale="1">
        <p:scale>
          <a:sx n="119" d="100"/>
          <a:sy n="119" d="100"/>
        </p:scale>
        <p:origin x="744" y="19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font" Target="fonts/font5.fntdata"/><Relationship Id="rId8" Type="http://schemas.openxmlformats.org/officeDocument/2006/relationships/font" Target="fonts/font6.fntdata"/><Relationship Id="rId9" Type="http://schemas.openxmlformats.org/officeDocument/2006/relationships/font" Target="fonts/font7.fntdata"/><Relationship Id="rId10" Type="http://schemas.openxmlformats.org/officeDocument/2006/relationships/font" Target="fonts/font8.fntdata"/><Relationship Id="rId11" Type="http://schemas.openxmlformats.org/officeDocument/2006/relationships/font" Target="fonts/font9.fntdata"/><Relationship Id="rId12" Type="http://schemas.openxmlformats.org/officeDocument/2006/relationships/font" Target="fonts/font10.fntdata"/><Relationship Id="rId13" Type="http://schemas.openxmlformats.org/officeDocument/2006/relationships/font" Target="fonts/font11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Revenue!</c:v>
                </c:pt>
              </c:strCache>
            </c:strRef>
          </c:tx>
          <c:spPr>
            <a:solidFill>
              <a:srgbClr val="C00000"/>
            </a:solidFill>
            <a:ln w="25400">
              <a:solidFill>
                <a:srgbClr val="C000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Cost!</c:v>
                </c:pt>
              </c:strCache>
            </c:strRef>
          </c:tx>
          <c:spPr>
            <a:solidFill>
              <a:srgbClr val="7030A0"/>
            </a:solidFill>
            <a:ln w="25400">
              <a:solidFill>
                <a:srgbClr val="7030A0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$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Revenue!</c:v>
                </c:pt>
              </c:strCache>
            </c:strRef>
          </c:tx>
          <c:spPr>
            <a:solidFill>
              <a:srgbClr val="C00000"/>
            </a:solidFill>
            <a:ln w="25400">
              <a:solidFill>
                <a:srgbClr val="C000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Cost!</c:v>
                </c:pt>
              </c:strCache>
            </c:strRef>
          </c:tx>
          <c:spPr>
            <a:solidFill>
              <a:srgbClr val="7030A0"/>
            </a:solidFill>
            <a:ln w="25400">
              <a:solidFill>
                <a:srgbClr val="7030A0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$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E79A7"/>
            </a:solidFill>
            <a:ln>
              <a:solidFill>
                <a:srgbClr val="4E79A7"/>
              </a:solidFill>
            </a:ln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sz="1000" b="1" i="0" u="none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F28E2B"/>
            </a:solidFill>
            <a:ln>
              <a:solidFill>
                <a:srgbClr val="F28E2B"/>
              </a:solidFill>
            </a:ln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sz="1000" b="1" i="0" u="none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0.0%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Revenue!</c:v>
                </c:pt>
              </c:strCache>
            </c:strRef>
          </c:tx>
          <c:spPr>
            <a:solidFill>
              <a:srgbClr val="C00000"/>
            </a:solidFill>
            <a:ln w="25400">
              <a:solidFill>
                <a:srgbClr val="C000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Cost!</c:v>
                </c:pt>
              </c:strCache>
            </c:strRef>
          </c:tx>
          <c:spPr>
            <a:solidFill>
              <a:srgbClr val="7030A0"/>
            </a:solidFill>
            <a:ln w="25400">
              <a:solidFill>
                <a:srgbClr val="7030A0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$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E79A7"/>
            </a:solidFill>
            <a:ln>
              <a:solidFill>
                <a:srgbClr val="4E79A7"/>
              </a:solidFill>
            </a:ln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sz="1000" b="1" i="0" u="none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F28E2B"/>
            </a:solidFill>
            <a:ln>
              <a:solidFill>
                <a:srgbClr val="F28E2B"/>
              </a:solidFill>
            </a:ln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sz="1000" b="1" i="0" u="none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0.0%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E79A7"/>
            </a:solidFill>
            <a:ln w="25400">
              <a:solidFill>
                <a:srgbClr val="4E79A7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JanJan</c:v>
                </c:pt>
                <c:pt idx="1">
                  <c:v>FebFeb</c:v>
                </c:pt>
                <c:pt idx="2">
                  <c:v>MarMar</c:v>
                </c:pt>
                <c:pt idx="3">
                  <c:v>AprApr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28</c:v>
                </c:pt>
                <c:pt idx="2">
                  <c:v>18</c:v>
                </c:pt>
                <c:pt idx="3">
                  <c:v>36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Revenue!</c:v>
                </c:pt>
              </c:strCache>
            </c:strRef>
          </c:tx>
          <c:spPr>
            <a:solidFill>
              <a:srgbClr val="4E79A7"/>
            </a:solidFill>
            <a:ln w="25400">
              <a:solidFill>
                <a:srgbClr val="4E79A7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Cost!</c:v>
                </c:pt>
              </c:strCache>
            </c:strRef>
          </c:tx>
          <c:spPr>
            <a:solidFill>
              <a:srgbClr val="F28E2B"/>
            </a:solidFill>
            <a:ln w="25400">
              <a:solidFill>
                <a:srgbClr val="F28E2B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$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E79A7"/>
            </a:solidFill>
            <a:ln w="25400">
              <a:solidFill>
                <a:srgbClr val="4E79A7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F28E2B"/>
            </a:solidFill>
            <a:ln w="25400">
              <a:solidFill>
                <a:srgbClr val="F28E2B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$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Revenue!</c:v>
                </c:pt>
              </c:strCache>
            </c:strRef>
          </c:tx>
          <c:spPr>
            <a:solidFill>
              <a:srgbClr val="4E79A7"/>
            </a:solidFill>
            <a:ln w="25400">
              <a:solidFill>
                <a:srgbClr val="4E79A7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Cost!</c:v>
                </c:pt>
              </c:strCache>
            </c:strRef>
          </c:tx>
          <c:spPr>
            <a:solidFill>
              <a:srgbClr val="F28E2B"/>
            </a:solidFill>
            <a:ln w="25400">
              <a:solidFill>
                <a:srgbClr val="F28E2B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$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Revenue!</c:v>
                </c:pt>
              </c:strCache>
            </c:strRef>
          </c:tx>
          <c:spPr>
            <a:solidFill>
              <a:srgbClr val="4E79A7"/>
            </a:solidFill>
            <a:ln w="25400">
              <a:solidFill>
                <a:srgbClr val="4E79A7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Cost!</c:v>
                </c:pt>
              </c:strCache>
            </c:strRef>
          </c:tx>
          <c:spPr>
            <a:solidFill>
              <a:srgbClr val="F28E2B"/>
            </a:solidFill>
            <a:ln w="25400">
              <a:solidFill>
                <a:srgbClr val="F28E2B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$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E79A7"/>
            </a:solidFill>
            <a:ln w="25400">
              <a:solidFill>
                <a:srgbClr val="4E79A7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F28E2B"/>
            </a:solidFill>
            <a:ln w="25400">
              <a:solidFill>
                <a:srgbClr val="F28E2B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$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Revenue!</c:v>
                </c:pt>
              </c:strCache>
            </c:strRef>
          </c:tx>
          <c:spPr>
            <a:solidFill>
              <a:srgbClr val="4E79A7"/>
            </a:solidFill>
            <a:ln w="25400">
              <a:solidFill>
                <a:srgbClr val="4E79A7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Cost!</c:v>
                </c:pt>
              </c:strCache>
            </c:strRef>
          </c:tx>
          <c:spPr>
            <a:solidFill>
              <a:srgbClr val="F28E2B"/>
            </a:solidFill>
            <a:ln w="25400">
              <a:solidFill>
                <a:srgbClr val="F28E2B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$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Revenue!</c:v>
                </c:pt>
              </c:strCache>
            </c:strRef>
          </c:tx>
          <c:spPr>
            <a:solidFill>
              <a:srgbClr val="4E79A7"/>
            </a:solidFill>
            <a:ln w="25400">
              <a:solidFill>
                <a:srgbClr val="4E79A7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Cost!</c:v>
                </c:pt>
              </c:strCache>
            </c:strRef>
          </c:tx>
          <c:spPr>
            <a:solidFill>
              <a:srgbClr val="F28E2B"/>
            </a:solidFill>
            <a:ln w="25400">
              <a:solidFill>
                <a:srgbClr val="F28E2B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.0"/>
          <c:min val="0.0"/>
        </c:scaling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$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E79A7"/>
            </a:solidFill>
            <a:ln w="25400">
              <a:solidFill>
                <a:srgbClr val="4E79A7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F28E2B"/>
            </a:solidFill>
            <a:ln w="25400">
              <a:solidFill>
                <a:srgbClr val="F28E2B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.0"/>
          <c:min val="0.0"/>
        </c:scaling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$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Revenue!</c:v>
                </c:pt>
              </c:strCache>
            </c:strRef>
          </c:tx>
          <c:spPr>
            <a:solidFill>
              <a:srgbClr val="4E79A7"/>
            </a:solidFill>
            <a:ln w="25400">
              <a:solidFill>
                <a:srgbClr val="4E79A7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Cost!</c:v>
                </c:pt>
              </c:strCache>
            </c:strRef>
          </c:tx>
          <c:spPr>
            <a:solidFill>
              <a:srgbClr val="F28E2B"/>
            </a:solidFill>
            <a:ln w="25400">
              <a:solidFill>
                <a:srgbClr val="F28E2B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.0"/>
          <c:min val="0.0"/>
        </c:scaling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$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Revenue!</c:v>
                </c:pt>
              </c:strCache>
            </c:strRef>
          </c:tx>
          <c:spPr>
            <a:solidFill>
              <a:srgbClr val="4E79A7"/>
            </a:solidFill>
            <a:ln w="25400">
              <a:solidFill>
                <a:srgbClr val="4E79A7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Cost!</c:v>
                </c:pt>
              </c:strCache>
            </c:strRef>
          </c:tx>
          <c:spPr>
            <a:solidFill>
              <a:srgbClr val="F28E2B"/>
            </a:solidFill>
            <a:ln w="25400">
              <a:solidFill>
                <a:srgbClr val="F28E2B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.0"/>
          <c:min val="0.0"/>
        </c:scaling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$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E79A7"/>
            </a:solidFill>
            <a:ln w="25400">
              <a:solidFill>
                <a:srgbClr val="4E79A7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F28E2B"/>
            </a:solidFill>
            <a:ln w="25400">
              <a:solidFill>
                <a:srgbClr val="F28E2B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.0"/>
          <c:min val="0.0"/>
        </c:scaling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$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Revenue!</c:v>
                </c:pt>
              </c:strCache>
            </c:strRef>
          </c:tx>
          <c:spPr>
            <a:solidFill>
              <a:srgbClr val="4E79A7"/>
            </a:solidFill>
            <a:ln w="25400">
              <a:solidFill>
                <a:srgbClr val="4E79A7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Cost!</c:v>
                </c:pt>
              </c:strCache>
            </c:strRef>
          </c:tx>
          <c:spPr>
            <a:solidFill>
              <a:srgbClr val="F28E2B"/>
            </a:solidFill>
            <a:ln w="25400">
              <a:solidFill>
                <a:srgbClr val="F28E2B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.0"/>
          <c:min val="0.0"/>
        </c:scaling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$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Revenue!</c:v>
                </c:pt>
              </c:strCache>
            </c:strRef>
          </c:tx>
          <c:spPr>
            <a:solidFill>
              <a:srgbClr val="4E79A7"/>
            </a:solidFill>
            <a:ln w="25400">
              <a:solidFill>
                <a:srgbClr val="4E79A7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Cost!</c:v>
                </c:pt>
              </c:strCache>
            </c:strRef>
          </c:tx>
          <c:spPr>
            <a:solidFill>
              <a:srgbClr val="F28E2B"/>
            </a:solidFill>
            <a:ln w="25400">
              <a:solidFill>
                <a:srgbClr val="F28E2B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Revenue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.0"/>
          <c:min val="0.0"/>
        </c:scaling>
        <c:delete val="0"/>
        <c:axPos val="l"/>
        <c:title>
          <c:tx>
            <c:rich>
              <a:bodyPr/>
              <a:lstStyle/>
              <a:p>
                <a:pPr>
                  <a:defRPr sz="1400" b="1" i="0" u="none"/>
                </a:pPr>
                <a:r>
                  <a:t>Month</a:t>
                </a:r>
              </a:p>
            </c:rich>
          </c:tx>
          <c:layout/>
          <c:overlay val="0"/>
        </c:title>
        <c:numFmt formatCode="$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2_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11293669" y="6217623"/>
            <a:ext cx="731409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Google Shape;6;p1">
            <a:extLst>
              <a:ext uri="{FF2B5EF4-FFF2-40B4-BE49-F238E27FC236}">
                <a16:creationId xmlns:a16="http://schemas.microsoft.com/office/drawing/2014/main" id="{D608E66C-D610-A348-065C-E13F33D9BA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7904" y="2286000"/>
            <a:ext cx="9144000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666">
                <a:solidFill>
                  <a:schemeClr val="tx1"/>
                </a:solidFill>
                <a:latin typeface="+mj-lt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765C46D-1070-1C7E-87B7-A28FE99387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17903" y="3657599"/>
            <a:ext cx="9153017" cy="2441447"/>
          </a:xfrm>
        </p:spPr>
        <p:txBody>
          <a:bodyPr/>
          <a:lstStyle>
            <a:lvl1pPr>
              <a:buNone/>
              <a:defRPr b="0"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5096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Title and Conten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11293669" y="6217623"/>
            <a:ext cx="731409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Google Shape;6;p1">
            <a:extLst>
              <a:ext uri="{FF2B5EF4-FFF2-40B4-BE49-F238E27FC236}">
                <a16:creationId xmlns:a16="http://schemas.microsoft.com/office/drawing/2014/main" id="{C35FF00A-4B82-B65E-3D85-4C5E30CEEA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91440"/>
            <a:ext cx="11430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666">
                <a:solidFill>
                  <a:schemeClr val="tx1"/>
                </a:solidFill>
                <a:latin typeface="+mj-lt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4E8E1A30-20E4-ECE0-B712-9EA71F9E9D7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533267" lvl="0" indent="-38090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  <a:defRPr sz="2399">
                <a:solidFill>
                  <a:schemeClr val="bg2"/>
                </a:solidFill>
                <a:latin typeface="+mn-lt"/>
                <a:ea typeface="Montserrat Black"/>
                <a:cs typeface="Montserrat Black"/>
                <a:sym typeface="Montserrat Black"/>
              </a:defRPr>
            </a:lvl1pPr>
            <a:lvl2pPr marL="1218895" lvl="1" indent="-42322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mo SemiBold"/>
              <a:buChar char="○"/>
              <a:defRPr>
                <a:solidFill>
                  <a:schemeClr val="dk2"/>
                </a:solidFill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marL="1828343" lvl="2" indent="-42322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3pPr>
            <a:lvl4pPr marL="2437790" lvl="3" indent="-42322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4pPr>
            <a:lvl5pPr marL="3047238" lvl="4" indent="-42322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5pPr>
            <a:lvl6pPr marL="3656686" lvl="5" indent="-42322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6pPr>
            <a:lvl7pPr marL="4266133" lvl="6" indent="-42322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7pPr>
            <a:lvl8pPr marL="4875581" lvl="7" indent="-42322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8pPr>
            <a:lvl9pPr marL="5485028" lvl="8" indent="-42322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373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11293669" y="6217623"/>
            <a:ext cx="731409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Google Shape;6;p1">
            <a:extLst>
              <a:ext uri="{FF2B5EF4-FFF2-40B4-BE49-F238E27FC236}">
                <a16:creationId xmlns:a16="http://schemas.microsoft.com/office/drawing/2014/main" id="{C35FF00A-4B82-B65E-3D85-4C5E30CEEA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91440"/>
            <a:ext cx="11430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666">
                <a:solidFill>
                  <a:schemeClr val="tx1"/>
                </a:solidFill>
                <a:latin typeface="+mj-lt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2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6550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11293669" y="6217623"/>
            <a:ext cx="731409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69325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Ref idx="1001">
        <a:schemeClr val="bg2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492" y="593367"/>
            <a:ext cx="11357841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492" y="1536633"/>
            <a:ext cx="11357841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Black"/>
              <a:buChar char="●"/>
              <a:defRPr sz="18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mo SemiBold"/>
              <a:buChar char="○"/>
              <a:defRPr>
                <a:solidFill>
                  <a:schemeClr val="dk2"/>
                </a:solidFill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3669" y="6217623"/>
            <a:ext cx="731409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8" r:id="rId2"/>
    <p:sldLayoutId id="2147483661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6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Relationship Id="rId5" Type="http://schemas.openxmlformats.org/officeDocument/2006/relationships/chart" Target="../charts/char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400" b="1" i="0" u="none">
                <a:solidFill>
                  <a:srgbClr val="7F7F7F"/>
                </a:solidFill>
              </a:rPr>
              <a:t>Demo - deck_title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 i="0" u="none">
                <a:solidFill>
                  <a:srgbClr val="000000"/>
                </a:solidFill>
              </a:rPr>
              <a:t>deckbridge - deck_author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4300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i="0" u="none">
                <a:solidFill>
                  <a:srgbClr val="7F7F7F"/>
                </a:solidFill>
              </a:rPr>
              <a:t>Revenue Trend - Slide Title</a:t>
            </a:r>
          </a:p>
        </p:txBody>
      </p:sp>
      <p:graphicFrame>
        <p:nvGraphicFramePr>
          <p:cNvPr id="3" name="chart_1"/>
          <p:cNvGraphicFramePr>
            <a:graphicFrameLocks noGrp="1"/>
          </p:cNvGraphicFramePr>
          <p:nvPr/>
        </p:nvGraphicFramePr>
        <p:xfrm>
          <a:off x="457200" y="1463040"/>
          <a:ext cx="11430000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005840"/>
            <a:ext cx="114300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i="0" u="sng">
                <a:solidFill>
                  <a:srgbClr val="000000"/>
                </a:solidFill>
              </a:rPr>
              <a:t>Revenue Trend (Line) - Chart Title
</a:t>
            </a:r>
            <a:r>
              <a:rPr sz="1200" b="0" i="1" u="none">
                <a:solidFill>
                  <a:srgbClr val="000000"/>
                </a:solidFill>
              </a:rPr>
              <a:t>2024 Actuals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6263640"/>
            <a:ext cx="164592" cy="16459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6016" y="6190488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</a:rPr>
              <a:t>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6492240"/>
            <a:ext cx="164592" cy="164592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86016" y="6419088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</a:rPr>
              <a:t>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0" y="6263640"/>
            <a:ext cx="164592" cy="16459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7576" y="6190488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</a:rPr>
              <a:t>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6492240"/>
            <a:ext cx="164592" cy="164592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7576" y="6419088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</a:rPr>
              <a:t>Cost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58400" y="914400"/>
            <a:ext cx="320040" cy="0"/>
          </a:xfrm>
          <a:prstGeom prst="line">
            <a:avLst/>
          </a:prstGeom>
          <a:ln w="2540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469880" y="777240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</a:rPr>
              <a:t>Revenue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400" y="1143000"/>
            <a:ext cx="320040" cy="0"/>
          </a:xfrm>
          <a:prstGeom prst="line">
            <a:avLst/>
          </a:prstGeom>
          <a:ln w="25400">
            <a:solidFill>
              <a:srgbClr val="7030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469880" y="1005840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</a:rPr>
              <a:t>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1430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i="0" u="none">
                <a:solidFill>
                  <a:srgbClr val="000000"/>
                </a:solidFill>
              </a:rPr>
              <a:t>Notes: Adjusted for recent acquisitions.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4300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i="0" u="none">
                <a:solidFill>
                  <a:srgbClr val="7F7F7F"/>
                </a:solidFill>
              </a:rPr>
              <a:t>Revenue Trend - Slide Title</a:t>
            </a:r>
          </a:p>
        </p:txBody>
      </p:sp>
      <p:graphicFrame>
        <p:nvGraphicFramePr>
          <p:cNvPr id="3" name="chart_1"/>
          <p:cNvGraphicFramePr>
            <a:graphicFrameLocks noGrp="1"/>
          </p:cNvGraphicFramePr>
          <p:nvPr/>
        </p:nvGraphicFramePr>
        <p:xfrm>
          <a:off x="457200" y="1463040"/>
          <a:ext cx="5715000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005840"/>
            <a:ext cx="57150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i="0" u="sng">
                <a:solidFill>
                  <a:srgbClr val="000000"/>
                </a:solidFill>
              </a:rPr>
              <a:t>Revenue Trend (Line) - Chart Title</a:t>
            </a:r>
          </a:p>
        </p:txBody>
      </p:sp>
      <p:graphicFrame>
        <p:nvGraphicFramePr>
          <p:cNvPr id="5" name="chart_2"/>
          <p:cNvGraphicFramePr>
            <a:graphicFrameLocks noGrp="1"/>
          </p:cNvGraphicFramePr>
          <p:nvPr/>
        </p:nvGraphicFramePr>
        <p:xfrm>
          <a:off x="6172200" y="1463040"/>
          <a:ext cx="571500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72200" y="1005840"/>
            <a:ext cx="57150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i="0" u="sng">
                <a:solidFill>
                  <a:srgbClr val="000000"/>
                </a:solidFill>
              </a:rPr>
              <a:t>Revenue (Bar) - Chart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4300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i="0" u="none">
                <a:solidFill>
                  <a:srgbClr val="7F7F7F"/>
                </a:solidFill>
              </a:rPr>
              <a:t>Revenue Trend - Slide Title</a:t>
            </a:r>
          </a:p>
        </p:txBody>
      </p:sp>
      <p:graphicFrame>
        <p:nvGraphicFramePr>
          <p:cNvPr id="3" name="chart_1"/>
          <p:cNvGraphicFramePr>
            <a:graphicFrameLocks noGrp="1"/>
          </p:cNvGraphicFramePr>
          <p:nvPr/>
        </p:nvGraphicFramePr>
        <p:xfrm>
          <a:off x="457200" y="1463040"/>
          <a:ext cx="3813048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005840"/>
            <a:ext cx="381304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i="0" u="sng">
                <a:solidFill>
                  <a:srgbClr val="000000"/>
                </a:solidFill>
              </a:rPr>
              <a:t>Revenue Trend (Line) - Chart Title</a:t>
            </a:r>
          </a:p>
        </p:txBody>
      </p:sp>
      <p:graphicFrame>
        <p:nvGraphicFramePr>
          <p:cNvPr id="5" name="chart_2"/>
          <p:cNvGraphicFramePr>
            <a:graphicFrameLocks noGrp="1"/>
          </p:cNvGraphicFramePr>
          <p:nvPr/>
        </p:nvGraphicFramePr>
        <p:xfrm>
          <a:off x="4270248" y="1463040"/>
          <a:ext cx="3813048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70248" y="1005840"/>
            <a:ext cx="381304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i="0" u="sng">
                <a:solidFill>
                  <a:srgbClr val="000000"/>
                </a:solidFill>
              </a:rPr>
              <a:t>Revenue (Bar) - Chart Title</a:t>
            </a:r>
          </a:p>
        </p:txBody>
      </p:sp>
      <p:graphicFrame>
        <p:nvGraphicFramePr>
          <p:cNvPr id="7" name="chart_3"/>
          <p:cNvGraphicFramePr>
            <a:graphicFrameLocks noGrp="1"/>
          </p:cNvGraphicFramePr>
          <p:nvPr/>
        </p:nvGraphicFramePr>
        <p:xfrm>
          <a:off x="8083296" y="1463040"/>
          <a:ext cx="3813048" cy="4800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83296" y="1005840"/>
            <a:ext cx="381304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i="0" u="sng">
                <a:solidFill>
                  <a:srgbClr val="000000"/>
                </a:solidFill>
              </a:rPr>
              <a:t>Revenue Trend (Line) - Chart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4300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i="0" u="none">
                <a:solidFill>
                  <a:srgbClr val="7F7F7F"/>
                </a:solidFill>
              </a:rPr>
              <a:t>These should all be the same (except for legend names)</a:t>
            </a:r>
          </a:p>
        </p:txBody>
      </p:sp>
      <p:graphicFrame>
        <p:nvGraphicFramePr>
          <p:cNvPr id="3" name="chart_1"/>
          <p:cNvGraphicFramePr>
            <a:graphicFrameLocks noGrp="1"/>
          </p:cNvGraphicFramePr>
          <p:nvPr/>
        </p:nvGraphicFramePr>
        <p:xfrm>
          <a:off x="457200" y="1463040"/>
          <a:ext cx="3813048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005840"/>
            <a:ext cx="381304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i="0" u="sng">
                <a:solidFill>
                  <a:srgbClr val="000000"/>
                </a:solidFill>
              </a:rPr>
              <a:t>Revenue Trend (Line) - Chart Title
</a:t>
            </a:r>
            <a:r>
              <a:rPr sz="1200" b="0" i="1" u="none">
                <a:solidFill>
                  <a:srgbClr val="000000"/>
                </a:solidFill>
              </a:rPr>
              <a:t>2024 Actuals</a:t>
            </a:r>
          </a:p>
        </p:txBody>
      </p:sp>
      <p:graphicFrame>
        <p:nvGraphicFramePr>
          <p:cNvPr id="5" name="chart_2"/>
          <p:cNvGraphicFramePr>
            <a:graphicFrameLocks noGrp="1"/>
          </p:cNvGraphicFramePr>
          <p:nvPr/>
        </p:nvGraphicFramePr>
        <p:xfrm>
          <a:off x="4270248" y="1463040"/>
          <a:ext cx="3813048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70248" y="1005840"/>
            <a:ext cx="381304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i="0" u="sng">
                <a:solidFill>
                  <a:srgbClr val="000000"/>
                </a:solidFill>
              </a:rPr>
              <a:t>Revenue Trend (Line) - Chart Title
</a:t>
            </a:r>
            <a:r>
              <a:rPr sz="1200" b="0" i="1" u="none">
                <a:solidFill>
                  <a:srgbClr val="000000"/>
                </a:solidFill>
              </a:rPr>
              <a:t>2024 Actuals</a:t>
            </a:r>
          </a:p>
        </p:txBody>
      </p:sp>
      <p:graphicFrame>
        <p:nvGraphicFramePr>
          <p:cNvPr id="7" name="chart_3"/>
          <p:cNvGraphicFramePr>
            <a:graphicFrameLocks noGrp="1"/>
          </p:cNvGraphicFramePr>
          <p:nvPr/>
        </p:nvGraphicFramePr>
        <p:xfrm>
          <a:off x="8083296" y="1463040"/>
          <a:ext cx="3813048" cy="4800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83296" y="1005840"/>
            <a:ext cx="381304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i="0" u="sng">
                <a:solidFill>
                  <a:srgbClr val="000000"/>
                </a:solidFill>
              </a:rPr>
              <a:t>Revenue Trend (Line) - Chart Title
</a:t>
            </a:r>
            <a:r>
              <a:rPr sz="1200" b="0" i="1" u="none">
                <a:solidFill>
                  <a:srgbClr val="000000"/>
                </a:solidFill>
              </a:rPr>
              <a:t>2024 Actuals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430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i="0" u="none">
                <a:solidFill>
                  <a:srgbClr val="000000"/>
                </a:solidFill>
              </a:rPr>
              <a:t>Notes: Adjusted for recent acquisitions.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4300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i="0" u="none">
                <a:solidFill>
                  <a:srgbClr val="7F7F7F"/>
                </a:solidFill>
              </a:rPr>
              <a:t>These should all be the same (except for legend names)</a:t>
            </a:r>
          </a:p>
        </p:txBody>
      </p:sp>
      <p:graphicFrame>
        <p:nvGraphicFramePr>
          <p:cNvPr id="3" name="chart_1"/>
          <p:cNvGraphicFramePr>
            <a:graphicFrameLocks noGrp="1"/>
          </p:cNvGraphicFramePr>
          <p:nvPr/>
        </p:nvGraphicFramePr>
        <p:xfrm>
          <a:off x="457200" y="1463040"/>
          <a:ext cx="3813048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005840"/>
            <a:ext cx="381304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i="0" u="sng">
                <a:solidFill>
                  <a:srgbClr val="000000"/>
                </a:solidFill>
              </a:rPr>
              <a:t>Revenue Trend (Line) - Chart Title
</a:t>
            </a:r>
            <a:r>
              <a:rPr sz="1200" b="0" i="1" u="none">
                <a:solidFill>
                  <a:srgbClr val="000000"/>
                </a:solidFill>
              </a:rPr>
              <a:t>2024 Actuals</a:t>
            </a:r>
          </a:p>
        </p:txBody>
      </p:sp>
      <p:graphicFrame>
        <p:nvGraphicFramePr>
          <p:cNvPr id="5" name="chart_2"/>
          <p:cNvGraphicFramePr>
            <a:graphicFrameLocks noGrp="1"/>
          </p:cNvGraphicFramePr>
          <p:nvPr/>
        </p:nvGraphicFramePr>
        <p:xfrm>
          <a:off x="4270248" y="1463040"/>
          <a:ext cx="3813048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70248" y="1005840"/>
            <a:ext cx="381304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i="0" u="sng">
                <a:solidFill>
                  <a:srgbClr val="000000"/>
                </a:solidFill>
              </a:rPr>
              <a:t>Revenue Trend (Line) - Chart Title
</a:t>
            </a:r>
            <a:r>
              <a:rPr sz="1200" b="0" i="1" u="none">
                <a:solidFill>
                  <a:srgbClr val="000000"/>
                </a:solidFill>
              </a:rPr>
              <a:t>2024 Actuals</a:t>
            </a:r>
          </a:p>
        </p:txBody>
      </p:sp>
      <p:graphicFrame>
        <p:nvGraphicFramePr>
          <p:cNvPr id="7" name="chart_3"/>
          <p:cNvGraphicFramePr>
            <a:graphicFrameLocks noGrp="1"/>
          </p:cNvGraphicFramePr>
          <p:nvPr/>
        </p:nvGraphicFramePr>
        <p:xfrm>
          <a:off x="8083296" y="1463040"/>
          <a:ext cx="3813048" cy="4800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83296" y="1005840"/>
            <a:ext cx="381304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i="0" u="sng">
                <a:solidFill>
                  <a:srgbClr val="000000"/>
                </a:solidFill>
              </a:rPr>
              <a:t>Revenue Trend (Line) - Chart Title
</a:t>
            </a:r>
            <a:r>
              <a:rPr sz="1200" b="0" i="1" u="none">
                <a:solidFill>
                  <a:srgbClr val="000000"/>
                </a:solidFill>
              </a:rPr>
              <a:t>2024 Actuals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430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i="0" u="none">
                <a:solidFill>
                  <a:srgbClr val="000000"/>
                </a:solidFill>
              </a:rPr>
              <a:t>Notes: Adjusted for recent acquisitions.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4300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i="0" u="none">
                <a:solidFill>
                  <a:srgbClr val="7F7F7F"/>
                </a:solidFill>
              </a:rPr>
              <a:t>These should all be the same (except for legend names)</a:t>
            </a:r>
          </a:p>
        </p:txBody>
      </p:sp>
      <p:graphicFrame>
        <p:nvGraphicFramePr>
          <p:cNvPr id="3" name="chart_1"/>
          <p:cNvGraphicFramePr>
            <a:graphicFrameLocks noGrp="1"/>
          </p:cNvGraphicFramePr>
          <p:nvPr/>
        </p:nvGraphicFramePr>
        <p:xfrm>
          <a:off x="457200" y="1463040"/>
          <a:ext cx="3813048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005840"/>
            <a:ext cx="381304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i="0" u="sng">
                <a:solidFill>
                  <a:srgbClr val="000000"/>
                </a:solidFill>
              </a:rPr>
              <a:t>Revenue Trend (Line) - Chart Title
</a:t>
            </a:r>
            <a:r>
              <a:rPr sz="1200" b="0" i="1" u="none">
                <a:solidFill>
                  <a:srgbClr val="000000"/>
                </a:solidFill>
              </a:rPr>
              <a:t>2024 Actuals</a:t>
            </a:r>
          </a:p>
        </p:txBody>
      </p:sp>
      <p:graphicFrame>
        <p:nvGraphicFramePr>
          <p:cNvPr id="5" name="chart_2"/>
          <p:cNvGraphicFramePr>
            <a:graphicFrameLocks noGrp="1"/>
          </p:cNvGraphicFramePr>
          <p:nvPr/>
        </p:nvGraphicFramePr>
        <p:xfrm>
          <a:off x="4270248" y="1463040"/>
          <a:ext cx="3813048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70248" y="1005840"/>
            <a:ext cx="381304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i="0" u="sng">
                <a:solidFill>
                  <a:srgbClr val="000000"/>
                </a:solidFill>
              </a:rPr>
              <a:t>Revenue Trend (Line) - Chart Title
</a:t>
            </a:r>
            <a:r>
              <a:rPr sz="1200" b="0" i="1" u="none">
                <a:solidFill>
                  <a:srgbClr val="000000"/>
                </a:solidFill>
              </a:rPr>
              <a:t>2024 Actuals</a:t>
            </a:r>
          </a:p>
        </p:txBody>
      </p:sp>
      <p:graphicFrame>
        <p:nvGraphicFramePr>
          <p:cNvPr id="7" name="chart_3"/>
          <p:cNvGraphicFramePr>
            <a:graphicFrameLocks noGrp="1"/>
          </p:cNvGraphicFramePr>
          <p:nvPr/>
        </p:nvGraphicFramePr>
        <p:xfrm>
          <a:off x="8083296" y="1463040"/>
          <a:ext cx="3813048" cy="4800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83296" y="1005840"/>
            <a:ext cx="381304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i="0" u="sng">
                <a:solidFill>
                  <a:srgbClr val="000000"/>
                </a:solidFill>
              </a:rPr>
              <a:t>Revenue Trend (Line) - Chart Title
</a:t>
            </a:r>
            <a:r>
              <a:rPr sz="1200" b="0" i="1" u="none">
                <a:solidFill>
                  <a:srgbClr val="000000"/>
                </a:solidFill>
              </a:rPr>
              <a:t>2024 Actuals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430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i="0" u="none">
                <a:solidFill>
                  <a:srgbClr val="000000"/>
                </a:solidFill>
              </a:rPr>
              <a:t>Notes: Adjusted for recent acquisitions.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4300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i="0" u="none">
                <a:solidFill>
                  <a:srgbClr val="7F7F7F"/>
                </a:solidFill>
              </a:rPr>
              <a:t>These should all be the same (except for legend names)</a:t>
            </a:r>
          </a:p>
        </p:txBody>
      </p:sp>
      <p:graphicFrame>
        <p:nvGraphicFramePr>
          <p:cNvPr id="3" name="chart_1"/>
          <p:cNvGraphicFramePr>
            <a:graphicFrameLocks noGrp="1"/>
          </p:cNvGraphicFramePr>
          <p:nvPr/>
        </p:nvGraphicFramePr>
        <p:xfrm>
          <a:off x="457200" y="1463040"/>
          <a:ext cx="2862072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005840"/>
            <a:ext cx="2862072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 i="0" u="sng">
                <a:solidFill>
                  <a:srgbClr val="000000"/>
                </a:solidFill>
              </a:rPr>
              <a:t>Revenue Trend (Line) - Chart Title
</a:t>
            </a:r>
            <a:r>
              <a:rPr sz="1000" b="0" i="1" u="none">
                <a:solidFill>
                  <a:srgbClr val="000000"/>
                </a:solidFill>
              </a:rPr>
              <a:t>2024 Actuals</a:t>
            </a:r>
          </a:p>
        </p:txBody>
      </p:sp>
      <p:graphicFrame>
        <p:nvGraphicFramePr>
          <p:cNvPr id="5" name="chart_2"/>
          <p:cNvGraphicFramePr>
            <a:graphicFrameLocks noGrp="1"/>
          </p:cNvGraphicFramePr>
          <p:nvPr/>
        </p:nvGraphicFramePr>
        <p:xfrm>
          <a:off x="3319272" y="1463040"/>
          <a:ext cx="2862072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319272" y="1005840"/>
            <a:ext cx="2862072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 i="0" u="sng">
                <a:solidFill>
                  <a:srgbClr val="000000"/>
                </a:solidFill>
              </a:rPr>
              <a:t>Revenue Trend (Line) - Chart Title
</a:t>
            </a:r>
            <a:r>
              <a:rPr sz="1000" b="0" i="1" u="none">
                <a:solidFill>
                  <a:srgbClr val="000000"/>
                </a:solidFill>
              </a:rPr>
              <a:t>2024 Actuals</a:t>
            </a:r>
          </a:p>
        </p:txBody>
      </p:sp>
      <p:graphicFrame>
        <p:nvGraphicFramePr>
          <p:cNvPr id="7" name="chart_3"/>
          <p:cNvGraphicFramePr>
            <a:graphicFrameLocks noGrp="1"/>
          </p:cNvGraphicFramePr>
          <p:nvPr/>
        </p:nvGraphicFramePr>
        <p:xfrm>
          <a:off x="6181344" y="1463040"/>
          <a:ext cx="2862072" cy="4800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81344" y="1005840"/>
            <a:ext cx="2862072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 i="0" u="sng">
                <a:solidFill>
                  <a:srgbClr val="000000"/>
                </a:solidFill>
              </a:rPr>
              <a:t>Revenue Trend (Line) - Chart Title
</a:t>
            </a:r>
            <a:r>
              <a:rPr sz="1000" b="0" i="1" u="none">
                <a:solidFill>
                  <a:srgbClr val="000000"/>
                </a:solidFill>
              </a:rPr>
              <a:t>2024 Actuals</a:t>
            </a:r>
          </a:p>
        </p:txBody>
      </p:sp>
      <p:graphicFrame>
        <p:nvGraphicFramePr>
          <p:cNvPr id="9" name="chart_4"/>
          <p:cNvGraphicFramePr>
            <a:graphicFrameLocks noGrp="1"/>
          </p:cNvGraphicFramePr>
          <p:nvPr/>
        </p:nvGraphicFramePr>
        <p:xfrm>
          <a:off x="9043416" y="1463040"/>
          <a:ext cx="2862072" cy="4800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043416" y="1005840"/>
            <a:ext cx="2862072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 i="0" u="sng">
                <a:solidFill>
                  <a:srgbClr val="000000"/>
                </a:solidFill>
              </a:rPr>
              <a:t>Revenue Trend (Line) - Chart Title
</a:t>
            </a:r>
            <a:r>
              <a:rPr sz="1000" b="0" i="1" u="none">
                <a:solidFill>
                  <a:srgbClr val="000000"/>
                </a:solidFill>
              </a:rPr>
              <a:t>2024 Actuals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430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i="0" u="none">
                <a:solidFill>
                  <a:srgbClr val="000000"/>
                </a:solidFill>
              </a:rPr>
              <a:t>Notes: Adjusted for recent acquisitions.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Custom 2">
      <a:dk1>
        <a:srgbClr val="000000"/>
      </a:dk1>
      <a:lt1>
        <a:srgbClr val="E2DDD1"/>
      </a:lt1>
      <a:dk2>
        <a:srgbClr val="171616"/>
      </a:dk2>
      <a:lt2>
        <a:srgbClr val="FFFFFF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Nunito Light</vt:lpstr>
      <vt:lpstr>Arimo SemiBold</vt:lpstr>
      <vt:lpstr>Montserrat Black</vt:lpstr>
      <vt:lpstr>Simple Light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Joseph Cobb</cp:lastModifiedBy>
  <cp:revision>16</cp:revision>
  <dcterms:modified xsi:type="dcterms:W3CDTF">2026-04-25T20:53:12Z</dcterms:modified>
</cp:coreProperties>
</file>